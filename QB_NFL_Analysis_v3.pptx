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AF23"/>
    <a:srgbClr val="F7FAFF"/>
    <a:srgbClr val="07132B"/>
    <a:srgbClr val="FFCB30"/>
    <a:srgbClr val="FFD454"/>
    <a:srgbClr val="FFD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3B99D-53EF-447D-8E43-9C2E5134178D}" v="155" dt="2026-04-15T16:13:47.355"/>
    <p1510:client id="{6190A6E0-146A-1C4A-9117-E654DAC4F39B}" v="125" dt="2026-04-15T16:13:48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84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9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553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11887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1188720" cy="256032"/>
          </a:xfrm>
          <a:prstGeom prst="rect">
            <a:avLst/>
          </a:prstGeom>
          <a:solidFill>
            <a:srgbClr val="DEAF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1321"/>
                </a:solidFill>
              </a:rPr>
              <a:t>SITUATION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4572000" cy="1691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29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NFL teams bet their</a:t>
            </a:r>
            <a:endParaRPr lang="en-US" sz="2900">
              <a:latin typeface="Georgia"/>
            </a:endParaRPr>
          </a:p>
          <a:p>
            <a:pPr marL="0" indent="0">
              <a:buNone/>
            </a:pPr>
            <a:r>
              <a:rPr lang="en-US" sz="29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franchises on</a:t>
            </a:r>
            <a:endParaRPr lang="en-US" sz="2900">
              <a:latin typeface="Georgia"/>
            </a:endParaRPr>
          </a:p>
          <a:p>
            <a:pPr marL="0" indent="0">
              <a:buNone/>
            </a:pPr>
            <a:r>
              <a:rPr lang="en-US" sz="29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quarterback picks</a:t>
            </a:r>
            <a:endParaRPr lang="en-US" sz="2900">
              <a:latin typeface="Georgi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2395728"/>
            <a:ext cx="420624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2505456"/>
            <a:ext cx="429768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8BAD"/>
                </a:solidFill>
              </a:rPr>
              <a:t>The draft is the single most consequential roster decision in professional football — and the quarterback pick defines a franchise's direction for years.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8BAD"/>
                </a:solidFill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8BAD"/>
                </a:solidFill>
              </a:rPr>
              <a:t>Teams evaluate QB prospects using a wide array of information; such as college film, efficiency stats, advanced metrics (PPA, usage), and their high school recruiting profile — then commit to a selection with no performance guarantees.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8BAD"/>
                </a:solidFill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8BAD"/>
                </a:solidFill>
              </a:rPr>
              <a:t>This analysis covers the 2017–2023 draft classes — the era of Mahomes, Burrow, Hurts, and a long list of costly misses.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0" y="256032"/>
            <a:ext cx="365760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0" y="256032"/>
            <a:ext cx="54864" cy="1325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4960" y="34747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$30–50M+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394960" y="93268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8BAD"/>
                </a:solidFill>
              </a:rPr>
              <a:t>Guaranteed on a top-5 QB rookie contract 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A8BAD"/>
                </a:solidFill>
              </a:rPr>
              <a:t>before a single NFL snap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0" y="1746504"/>
            <a:ext cx="365760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12080" y="1746504"/>
            <a:ext cx="54864" cy="1325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4960" y="183794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QBs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394960" y="24231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8BAD"/>
                </a:solidFill>
              </a:rPr>
              <a:t>Received a real chance to start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A8BAD"/>
                </a:solidFill>
              </a:rPr>
              <a:t>(2018–2024, ≥16 games played)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12080" y="3236976"/>
            <a:ext cx="365760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12080" y="3236976"/>
            <a:ext cx="54864" cy="1325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4960" y="332841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Classes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394960" y="39136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8BAD"/>
                </a:solidFill>
              </a:rPr>
              <a:t>Draft years studied (2017–2023),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A8BAD"/>
                </a:solidFill>
              </a:rPr>
              <a:t>last 2 seasons of college data used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1572768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1572768" cy="256032"/>
          </a:xfrm>
          <a:prstGeom prst="rect">
            <a:avLst/>
          </a:prstGeom>
          <a:solidFill>
            <a:srgbClr val="DEAF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1321"/>
                </a:solidFill>
              </a:rPr>
              <a:t>COMPLICATION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30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QB outcomes diverge wildly, and teams can't always explain why</a:t>
            </a:r>
            <a:endParaRPr lang="en-US" sz="3000">
              <a:latin typeface="Georgi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901952"/>
            <a:ext cx="8503920" cy="27432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2651760" cy="2834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54864" cy="2834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 pts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32186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0B0CC"/>
                </a:solidFill>
              </a:rPr>
              <a:t>Gap between the best and worst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0B0CC"/>
                </a:solidFill>
              </a:rPr>
              <a:t>composite NFL score in our cohort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913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7A8BAD"/>
                </a:solidFill>
              </a:rPr>
              <a:t>Despite comparable draft investment,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7A8BAD"/>
                </a:solidFill>
              </a:rPr>
              <a:t>outcomes vary enormously — something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7A8BAD"/>
                </a:solidFill>
              </a:rPr>
              <a:t>current evaluation frameworks fail to predict.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011680"/>
            <a:ext cx="5577840" cy="896112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10712" y="2212848"/>
            <a:ext cx="384048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10712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22776" y="21031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</a:t>
            </a:r>
            <a:r>
              <a:rPr lang="en-US" sz="1300" b="1">
                <a:solidFill>
                  <a:srgbClr val="FFFFFF"/>
                </a:solidFill>
              </a:rPr>
              <a:t>proven</a:t>
            </a:r>
            <a:r>
              <a:rPr lang="en-US" sz="1300" b="1" dirty="0">
                <a:solidFill>
                  <a:srgbClr val="FFFFFF"/>
                </a:solidFill>
              </a:rPr>
              <a:t> College-to-NFL </a:t>
            </a:r>
            <a:r>
              <a:rPr lang="en-US" sz="1300" b="1">
                <a:solidFill>
                  <a:srgbClr val="FFFFFF"/>
                </a:solidFill>
              </a:rPr>
              <a:t>translator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22776" y="23957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8BAD"/>
                </a:solidFill>
              </a:rPr>
              <a:t>Efficiency stats, PPA, and usage metrics are all used differently by different front offices. There is no consensus on which signals actually matter.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3017520"/>
            <a:ext cx="5577840" cy="896112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10712" y="3218688"/>
            <a:ext cx="384048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10712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22776" y="31089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Recruiting </a:t>
            </a:r>
            <a:r>
              <a:rPr lang="en-US" sz="1300" b="1">
                <a:solidFill>
                  <a:srgbClr val="FFFFFF"/>
                </a:solidFill>
              </a:rPr>
              <a:t>rankings</a:t>
            </a:r>
            <a:r>
              <a:rPr lang="en-US" sz="1300" b="1" dirty="0">
                <a:solidFill>
                  <a:srgbClr val="FFFFFF"/>
                </a:solidFill>
              </a:rPr>
              <a:t> </a:t>
            </a:r>
            <a:r>
              <a:rPr lang="en-US" sz="1300" b="1">
                <a:solidFill>
                  <a:srgbClr val="FFFFFF"/>
                </a:solidFill>
              </a:rPr>
              <a:t>may</a:t>
            </a:r>
            <a:r>
              <a:rPr lang="en-US" sz="1300" b="1" dirty="0">
                <a:solidFill>
                  <a:srgbClr val="FFFFFF"/>
                </a:solidFill>
              </a:rPr>
              <a:t> </a:t>
            </a:r>
            <a:r>
              <a:rPr lang="en-US" sz="1300" b="1">
                <a:solidFill>
                  <a:srgbClr val="FFFFFF"/>
                </a:solidFill>
              </a:rPr>
              <a:t>bias</a:t>
            </a:r>
            <a:r>
              <a:rPr lang="en-US" sz="1300" b="1" dirty="0">
                <a:solidFill>
                  <a:srgbClr val="FFFFFF"/>
                </a:solidFill>
              </a:rPr>
              <a:t> </a:t>
            </a:r>
            <a:r>
              <a:rPr lang="en-US" sz="1300" b="1">
                <a:solidFill>
                  <a:srgbClr val="FFFFFF"/>
                </a:solidFill>
              </a:rPr>
              <a:t>decisions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22776" y="34015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8BAD"/>
                </a:solidFill>
              </a:rPr>
              <a:t>High composite ratings influence draft positioning — but do they reflect NFL potential or simply prior hype? Systematic bias may be baked into current evaluation.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4023360"/>
            <a:ext cx="5577840" cy="896112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10712" y="4224528"/>
            <a:ext cx="384048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10712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22776" y="4114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Draft round is no guarantee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22776" y="440740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8BAD"/>
                </a:solidFill>
              </a:rPr>
              <a:t>Round 1 QBs appear at both extremes of our NFL composite scores — 5 of 40 scored below 45. There is no consistent framework for identifying which prospects will succeed.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8901" y="525494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</a:rPr>
              <a:t>What Actually Predicts Early NFL Success?</a:t>
            </a:r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8631936" cy="1143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298448"/>
            <a:ext cx="8631936" cy="11430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college QB characteristics — efficiency metrics, PPA, usage, mobility, and recruiting profile — best predict early NFL success, and do recruiting rankings introduce a systematic bias?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6032" y="2633472"/>
            <a:ext cx="863193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2633472"/>
            <a:ext cx="502920" cy="685800"/>
          </a:xfrm>
          <a:prstGeom prst="rect">
            <a:avLst/>
          </a:prstGeom>
          <a:solidFill>
            <a:srgbClr val="0F7EA6"/>
          </a:solidFill>
          <a:ln w="12700">
            <a:solidFill>
              <a:srgbClr val="0F7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263347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 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2724912"/>
            <a:ext cx="7946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cluster college QB profiles into meaningful archetypes based on production patterns?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3410712"/>
            <a:ext cx="863193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3410712"/>
            <a:ext cx="502920" cy="685800"/>
          </a:xfrm>
          <a:prstGeom prst="rect">
            <a:avLst/>
          </a:prstGeom>
          <a:solidFill>
            <a:srgbClr val="0F7EA6"/>
          </a:solidFill>
          <a:ln w="12700">
            <a:solidFill>
              <a:srgbClr val="0F7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341071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 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" y="3502152"/>
            <a:ext cx="7946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certain archetypes consistently outperform or underperform expectations in the NFL?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4187952"/>
            <a:ext cx="863193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4187952"/>
            <a:ext cx="502920" cy="685800"/>
          </a:xfrm>
          <a:prstGeom prst="rect">
            <a:avLst/>
          </a:prstGeom>
          <a:solidFill>
            <a:srgbClr val="0F7EA6"/>
          </a:solidFill>
          <a:ln w="12700">
            <a:solidFill>
              <a:srgbClr val="0F7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418795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 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" y="4279392"/>
            <a:ext cx="7946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QB's recruiting rank predict NFL success better, worse, or independently of college production?</a:t>
            </a:r>
            <a:endParaRPr lang="en-US" sz="13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176E871D-BA20-C7A1-2DCE-7630AAE50B3E}"/>
              </a:ext>
            </a:extLst>
          </p:cNvPr>
          <p:cNvSpPr/>
          <p:nvPr/>
        </p:nvSpPr>
        <p:spPr>
          <a:xfrm>
            <a:off x="255746" y="195739"/>
            <a:ext cx="1429893" cy="277463"/>
          </a:xfrm>
          <a:prstGeom prst="rect">
            <a:avLst/>
          </a:prstGeom>
          <a:solidFill>
            <a:srgbClr val="DEAF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0D1321"/>
                </a:solidFill>
              </a:rPr>
              <a:t>QUESTION</a:t>
            </a:r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-85725" y="0"/>
            <a:ext cx="99441" cy="5143500"/>
          </a:xfrm>
          <a:prstGeom prst="rect">
            <a:avLst/>
          </a:prstGeom>
          <a:solidFill>
            <a:srgbClr val="DEAF23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37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</a:rPr>
              <a:t>Four Key Findings</a:t>
            </a:r>
          </a:p>
        </p:txBody>
      </p:sp>
      <p:sp>
        <p:nvSpPr>
          <p:cNvPr id="5" name="Shape 3"/>
          <p:cNvSpPr/>
          <p:nvPr/>
        </p:nvSpPr>
        <p:spPr>
          <a:xfrm>
            <a:off x="256032" y="1353312"/>
            <a:ext cx="4187952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2D54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502920" cy="150876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353312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1472184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 Ratings Are Noise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1828800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−0.10 between 247Sports recruit rating and NFL composite score. Teams pay a premium for the wrong signal.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0016" y="1353312"/>
            <a:ext cx="4187952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2D54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0016" y="1353312"/>
            <a:ext cx="502920" cy="150876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0016" y="1353312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94376" y="1472184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Completion % Is Signal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94376" y="1828800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completion % has r = +0.33 with NFL success (p &lt; 0.10). Accuracy in college transfers to the NFL.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3044952"/>
            <a:ext cx="4187952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2D54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3044952"/>
            <a:ext cx="502920" cy="150876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3044952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" y="3163824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Recruiting Bias Is Costly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" y="3520440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most overvalued QBs by recruit prestige averaged a composite score of 32.3 — vs. cohort mean of 57.8.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0016" y="3044952"/>
            <a:ext cx="4187952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2D54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0016" y="3044952"/>
            <a:ext cx="502920" cy="150876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0016" y="3044952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94376" y="3163824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 Rounds Can Win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94376" y="3520440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Brock Purdy (Rd 7, score 87.9) and Gardner Minshew (Rd 6, 67.3) outperformed most Round 1 picks.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37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DEAF23"/>
                </a:solidFill>
                <a:latin typeface="Calibri"/>
                <a:ea typeface="Calibri"/>
                <a:cs typeface="Calibri"/>
              </a:rPr>
              <a:t>METHOD</a:t>
            </a:r>
            <a:endParaRPr lang="en-US" sz="1000">
              <a:solidFill>
                <a:srgbClr val="DEAF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7132B"/>
                </a:solidFill>
                <a:latin typeface="Georgia"/>
              </a:rPr>
              <a:t>Data &amp; Sample</a:t>
            </a:r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8631936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298448"/>
            <a:ext cx="8631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 40 QBs drafted 2017–2024  |  ≥16 NFL games played  |  ≥8 starts in first two seasons  |  Advanced stats available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2029968"/>
            <a:ext cx="32918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20848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47872" y="2029968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39312" y="2084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Used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62672" y="2029968"/>
            <a:ext cx="1225296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54112" y="20848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2414016"/>
            <a:ext cx="329184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4688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Pro-Football-Reference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47872" y="2414016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39312" y="24688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passing stats (standard + advanced), rushing stats, draft records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62672" y="2414016"/>
            <a:ext cx="1225296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54112" y="2468880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40/40 QBs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798064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285292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Sportradar NCAAFB v7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47872" y="279806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39312" y="28529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sack data (supplemental)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62672" y="2798064"/>
            <a:ext cx="12252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54112" y="2852928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40/40 QBs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182112"/>
            <a:ext cx="329184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32369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Football Data API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47872" y="3182112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39312" y="32369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passing, rushing, PPA, usage, team win 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62672" y="3182112"/>
            <a:ext cx="1225296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54112" y="323697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39/40 QBs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3566160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" y="36210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247Sports (via CFBD)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47872" y="356616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39312" y="36210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composite rating and star rankings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62672" y="3566160"/>
            <a:ext cx="12252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54112" y="362102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34/40 QBs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" y="3913632"/>
            <a:ext cx="20116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6032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256032" y="4498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QBs in cohort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32304" y="3913632"/>
            <a:ext cx="20116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432304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2432304" y="4498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classes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(2017–2024)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08576" y="3913632"/>
            <a:ext cx="20116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08576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4608576" y="4498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table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84848" y="3913632"/>
            <a:ext cx="20116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84848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6784848" y="4498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37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DEAF23"/>
                </a:solidFill>
                <a:latin typeface="Calibri"/>
                <a:ea typeface="Calibri"/>
                <a:cs typeface="Calibri"/>
              </a:rPr>
              <a:t>METHOD</a:t>
            </a:r>
            <a:endParaRPr lang="en-US" sz="1000">
              <a:solidFill>
                <a:srgbClr val="DEAF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7132B"/>
                </a:solidFill>
                <a:latin typeface="Georgia"/>
              </a:rPr>
              <a:t>Scoring, Clustering &amp; SQL</a:t>
            </a:r>
          </a:p>
        </p:txBody>
      </p:sp>
      <p:sp>
        <p:nvSpPr>
          <p:cNvPr id="5" name="Text 3"/>
          <p:cNvSpPr/>
          <p:nvPr/>
        </p:nvSpPr>
        <p:spPr>
          <a:xfrm>
            <a:off x="256032" y="12984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DEAF23"/>
                </a:solidFill>
                <a:latin typeface="Calibri"/>
                <a:ea typeface="Calibri"/>
                <a:cs typeface="Calibri"/>
              </a:rPr>
              <a:t>COMPOSITE NFL SCORE  (0–100)</a:t>
            </a:r>
            <a:endParaRPr lang="en-US" sz="1000">
              <a:solidFill>
                <a:srgbClr val="DEAF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1627632"/>
            <a:ext cx="41605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6276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" y="1627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COMPONENT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975104"/>
            <a:ext cx="4160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975104"/>
            <a:ext cx="77724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5282" y="19751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DEAF23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2×</a:t>
            </a:r>
            <a:endParaRPr lang="en-US" sz="1200">
              <a:solidFill>
                <a:srgbClr val="DEAF23"/>
              </a:solidFill>
              <a:latin typeface="Trebuchet M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54647" y="201168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 Throw 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5282" y="2295144"/>
            <a:ext cx="416052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2295144"/>
            <a:ext cx="77724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" y="22951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DEAF23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2×</a:t>
            </a:r>
            <a:endParaRPr lang="en-US" sz="1200">
              <a:solidFill>
                <a:srgbClr val="DEAF23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5397" y="233172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Throw % (inverted)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5282" y="2615184"/>
            <a:ext cx="4160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615184"/>
            <a:ext cx="77724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261518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DEAF23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1.5×</a:t>
            </a:r>
            <a:endParaRPr lang="en-US" sz="1200">
              <a:solidFill>
                <a:srgbClr val="DEAF23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35397" y="265176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5282" y="2935224"/>
            <a:ext cx="416052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2935224"/>
            <a:ext cx="77724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" y="29352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DEAF23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1×</a:t>
            </a:r>
            <a:endParaRPr lang="en-US" sz="1200">
              <a:solidFill>
                <a:srgbClr val="DEAF23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5397" y="297180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ANY/A, Passer Rating, QBR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5282" y="3255264"/>
            <a:ext cx="4160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3255264"/>
            <a:ext cx="77724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6032" y="325526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DEAF23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1×</a:t>
            </a:r>
            <a:endParaRPr lang="en-US" sz="1200">
              <a:solidFill>
                <a:srgbClr val="DEAF23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5397" y="329184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TD%, INT% (inverted)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5282" y="3575304"/>
            <a:ext cx="416052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" y="3575304"/>
            <a:ext cx="77724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" y="35753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DEAF23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1×</a:t>
            </a:r>
            <a:endParaRPr lang="en-US" sz="1200">
              <a:solidFill>
                <a:srgbClr val="DEAF23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35397" y="361188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Rate (inverted)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5282" y="3895344"/>
            <a:ext cx="4160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6032" y="3895344"/>
            <a:ext cx="77724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6032" y="38953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DEAF23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1×</a:t>
            </a:r>
            <a:endParaRPr lang="en-US" sz="1200">
              <a:solidFill>
                <a:srgbClr val="DEAF23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235397" y="393192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Yards / Attempt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129844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DEAF23"/>
                </a:solidFill>
                <a:latin typeface="Calibri"/>
                <a:ea typeface="Calibri"/>
                <a:cs typeface="Calibri"/>
              </a:rPr>
              <a:t>PCA + K-MEANS CLUSTERING</a:t>
            </a:r>
            <a:endParaRPr lang="en-US" sz="1000">
              <a:solidFill>
                <a:srgbClr val="DEAF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63440" y="1627632"/>
            <a:ext cx="4261104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1737360"/>
            <a:ext cx="398678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40-QB college feature matrix</a:t>
            </a:r>
            <a:endParaRPr lang="en-US" sz="1200" dirty="0"/>
          </a:p>
          <a:p>
            <a:pPr marL="800100" lvl="1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3 components explain 78.7% of variance</a:t>
            </a:r>
            <a:endParaRPr lang="en-US" sz="1200" dirty="0"/>
          </a:p>
          <a:p>
            <a:pPr marL="800100" lvl="1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(50%): Passing efficiency — PPA, Yds/Att, usage</a:t>
            </a:r>
            <a:endParaRPr lang="en-US" sz="1200" dirty="0"/>
          </a:p>
          <a:p>
            <a:pPr marL="800100" lvl="1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PC2 (18%): Volume/usage — INT rate, pass usage</a:t>
            </a:r>
            <a:endParaRPr lang="en-US" sz="1200" dirty="0"/>
          </a:p>
          <a:p>
            <a:pPr marL="800100" lvl="1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 (11%): Mobility — sack rate, rush yards/att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k=4 (elbow method): 4 archetype clusters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63440" y="395020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DEAF23"/>
                </a:solidFill>
                <a:latin typeface="Calibri"/>
                <a:ea typeface="Calibri"/>
                <a:cs typeface="Calibri"/>
              </a:rPr>
              <a:t>SQL DATABASE</a:t>
            </a:r>
            <a:endParaRPr lang="en-US" sz="1000">
              <a:solidFill>
                <a:srgbClr val="DEAF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663440" y="4224528"/>
            <a:ext cx="4261104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4242816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(qb_analysis.db) — 5 tables, 10 analytical queries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avg score by draft round · recruit bias by conference · top college predictors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28469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>
                <a:solidFill>
                  <a:srgbClr val="DEAF23"/>
                </a:solidFill>
                <a:latin typeface="Calibri"/>
                <a:ea typeface="Calibri"/>
                <a:cs typeface="Calibri"/>
              </a:rPr>
              <a:t>CORRELATIONS</a:t>
            </a:r>
            <a:endParaRPr lang="en-US" sz="1000">
              <a:solidFill>
                <a:srgbClr val="DEAF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6032" y="53035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7132B"/>
                </a:solidFill>
                <a:latin typeface="Georgia"/>
              </a:rPr>
              <a:t>College Traits vs. Early NFL Outcomes</a:t>
            </a:r>
          </a:p>
        </p:txBody>
      </p:sp>
      <p:sp>
        <p:nvSpPr>
          <p:cNvPr id="6" name="Shape 3"/>
          <p:cNvSpPr/>
          <p:nvPr/>
        </p:nvSpPr>
        <p:spPr>
          <a:xfrm>
            <a:off x="6291072" y="1371600"/>
            <a:ext cx="26334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91072" y="142646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−0.45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91072" y="19019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PPA Overall → Pressure Rate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91072" y="21579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signal: elite college efficiency = less NFL pressure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91072" y="2606040"/>
            <a:ext cx="26334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91072" y="266090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−0.41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291072" y="31363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College Yds/Att → Pressure Rate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91072" y="33924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Deep-ball college passers handle the NFL pass rush better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91072" y="3840480"/>
            <a:ext cx="26334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91072" y="389534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+0.39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291072" y="43708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 Overall → Pressure Rate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91072" y="46268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college QBs may face tougher scheme transitions</a:t>
            </a:r>
            <a:endParaRPr lang="en-US" sz="900" dirty="0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9538F1BC-EF81-8115-D7D3-FBFDEC0B7624}"/>
              </a:ext>
            </a:extLst>
          </p:cNvPr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F5AF69D-D7F5-5169-05E8-D778D999D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81" y="1159002"/>
            <a:ext cx="5479298" cy="39547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37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DEAF23"/>
                </a:solidFill>
                <a:latin typeface="Calibri"/>
                <a:ea typeface="Calibri"/>
                <a:cs typeface="Calibri"/>
              </a:rPr>
              <a:t>RESULTS</a:t>
            </a:r>
            <a:endParaRPr lang="en-US" sz="1000">
              <a:solidFill>
                <a:srgbClr val="DEAF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7132B"/>
                </a:solidFill>
                <a:latin typeface="Georgia"/>
              </a:rPr>
              <a:t>Composite NFL Score Rankings</a:t>
            </a:r>
          </a:p>
        </p:txBody>
      </p:sp>
      <p:sp>
        <p:nvSpPr>
          <p:cNvPr id="5" name="Shape 3"/>
          <p:cNvSpPr/>
          <p:nvPr/>
        </p:nvSpPr>
        <p:spPr>
          <a:xfrm>
            <a:off x="256032" y="1280160"/>
            <a:ext cx="14630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2984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57.8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16824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mean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280160"/>
            <a:ext cx="14630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0" y="12984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16824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1568" y="1280160"/>
            <a:ext cx="14630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01568" y="12984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20–88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01568" y="16824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74920" y="1280160"/>
            <a:ext cx="3813048" cy="68580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66360" y="1280160"/>
            <a:ext cx="3630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picks appear at both extremes — draft round alone is a poor predictor of outcomes.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" y="21031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DEAF23"/>
                </a:solidFill>
                <a:latin typeface="Calibri"/>
                <a:ea typeface="Calibri"/>
                <a:cs typeface="Calibri"/>
              </a:rPr>
              <a:t>TOP 7</a:t>
            </a:r>
            <a:endParaRPr lang="en-US" sz="1100">
              <a:solidFill>
                <a:srgbClr val="DEAF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6032" y="2395728"/>
            <a:ext cx="19202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" y="2432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76272" y="2395728"/>
            <a:ext cx="5029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49424" y="2432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79192" y="2395728"/>
            <a:ext cx="4572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52344" y="24323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36392" y="2395728"/>
            <a:ext cx="685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9544" y="24323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2715768"/>
            <a:ext cx="1920240" cy="320040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" y="2752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Brock Purdy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76272" y="2715768"/>
            <a:ext cx="502920" cy="320040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49424" y="27523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79192" y="2715768"/>
            <a:ext cx="457200" cy="320040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52344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36392" y="2715768"/>
            <a:ext cx="685800" cy="320040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9544" y="27523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" y="3035808"/>
            <a:ext cx="1920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" y="3072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Drake Maye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76272" y="3035808"/>
            <a:ext cx="502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49424" y="30723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79192" y="303580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52344" y="30723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136392" y="3035808"/>
            <a:ext cx="685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9544" y="307238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6032" y="3355848"/>
            <a:ext cx="192024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9184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Burrow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176272" y="3355848"/>
            <a:ext cx="50292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249424" y="33924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679192" y="3355848"/>
            <a:ext cx="45720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52344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136392" y="3355848"/>
            <a:ext cx="68580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09544" y="33924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56032" y="3675888"/>
            <a:ext cx="1920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9184" y="3712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Jayden Daniels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76272" y="3675888"/>
            <a:ext cx="502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249424" y="37124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79192" y="36758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752344" y="37124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136392" y="3675888"/>
            <a:ext cx="685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9544" y="37124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56032" y="3995928"/>
            <a:ext cx="192024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29184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Herbert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176272" y="3995928"/>
            <a:ext cx="50292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249424" y="40325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679192" y="3995928"/>
            <a:ext cx="45720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52344" y="40325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136392" y="3995928"/>
            <a:ext cx="68580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209544" y="40325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56032" y="4315968"/>
            <a:ext cx="1920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9184" y="4352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Lamar Jackson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176272" y="4315968"/>
            <a:ext cx="502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249424" y="43525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679192" y="431596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752344" y="43525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136392" y="4315968"/>
            <a:ext cx="685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209544" y="43525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56032" y="4636008"/>
            <a:ext cx="192024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29184" y="4672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Nix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176272" y="4636008"/>
            <a:ext cx="50292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249424" y="46725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679192" y="4636008"/>
            <a:ext cx="45720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752344" y="46725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3136392" y="4636008"/>
            <a:ext cx="685800" cy="320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209544" y="467258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76.2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572000" y="210312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DEAF23"/>
                </a:solidFill>
                <a:latin typeface="Calibri"/>
                <a:ea typeface="Calibri"/>
                <a:cs typeface="Calibri"/>
              </a:rPr>
              <a:t>BOTTOM 7</a:t>
            </a:r>
            <a:endParaRPr lang="en-US" sz="1100">
              <a:solidFill>
                <a:srgbClr val="DEAF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4572000" y="2395728"/>
            <a:ext cx="19202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645152" y="2432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QB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492240" y="2395728"/>
            <a:ext cx="5029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565392" y="2432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Yr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995160" y="2395728"/>
            <a:ext cx="4572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068312" y="24323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Rd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7452360" y="2395728"/>
            <a:ext cx="685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7525512" y="24323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4572000" y="2715768"/>
            <a:ext cx="192024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645152" y="2752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Dwayne Haskins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6492240" y="2715768"/>
            <a:ext cx="50292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6565392" y="27523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995160" y="2715768"/>
            <a:ext cx="45720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7068312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7452360" y="2715768"/>
            <a:ext cx="68580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7525512" y="27523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4572000" y="3035808"/>
            <a:ext cx="192024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645152" y="3072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J.J. McCarthy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6492240" y="3035808"/>
            <a:ext cx="50292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565392" y="30723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6995160" y="3035808"/>
            <a:ext cx="45720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068312" y="30723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7452360" y="3035808"/>
            <a:ext cx="68580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7525512" y="307238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4572000" y="3355848"/>
            <a:ext cx="192024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645152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 Wilson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6492240" y="3355848"/>
            <a:ext cx="50292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6565392" y="33924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6995160" y="3355848"/>
            <a:ext cx="45720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7068312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7452360" y="3355848"/>
            <a:ext cx="68580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525512" y="33924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4572000" y="3675888"/>
            <a:ext cx="192024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4645152" y="3712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D.Thompson-Robinson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6492240" y="3675888"/>
            <a:ext cx="50292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6565392" y="37124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6995160" y="3675888"/>
            <a:ext cx="45720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7068312" y="37124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7452360" y="3675888"/>
            <a:ext cx="68580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7525512" y="37124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4572000" y="3995928"/>
            <a:ext cx="192024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4645152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Rosen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6492240" y="3995928"/>
            <a:ext cx="50292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6565392" y="40325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6995160" y="3995928"/>
            <a:ext cx="45720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7068312" y="40325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7452360" y="3995928"/>
            <a:ext cx="68580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7525512" y="40325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4572000" y="4315968"/>
            <a:ext cx="192024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4645152" y="4352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Richardson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6492240" y="4315968"/>
            <a:ext cx="50292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6565392" y="43525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6995160" y="4315968"/>
            <a:ext cx="45720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7068312" y="43525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7452360" y="4315968"/>
            <a:ext cx="68580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7525512" y="43525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4572000" y="4636008"/>
            <a:ext cx="192024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4645152" y="4672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Finley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6492240" y="4636008"/>
            <a:ext cx="50292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6565392" y="46725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142" name="Shape 140"/>
          <p:cNvSpPr/>
          <p:nvPr/>
        </p:nvSpPr>
        <p:spPr>
          <a:xfrm>
            <a:off x="6995160" y="4636008"/>
            <a:ext cx="45720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7068312" y="46725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7452360" y="4636008"/>
            <a:ext cx="685800" cy="320040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7525512" y="467258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37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DEAF23"/>
                </a:solidFill>
                <a:latin typeface="Calibri"/>
                <a:ea typeface="Calibri"/>
                <a:cs typeface="Calibri"/>
              </a:rPr>
              <a:t>RESULTS</a:t>
            </a:r>
            <a:endParaRPr lang="en-US" sz="1000">
              <a:solidFill>
                <a:srgbClr val="DEAF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7132B"/>
                </a:solidFill>
                <a:latin typeface="Georgia"/>
              </a:rPr>
              <a:t>Recruiting Bias Analysis</a:t>
            </a:r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27432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−0.10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56032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Rating  vs. NFL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27832" y="1298448"/>
            <a:ext cx="27432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27832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+0.33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27832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Cmp%  vs. NFL 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1298448"/>
            <a:ext cx="27432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99632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7E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+0.18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99632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PPA  vs. NFL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25786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MOST OVERVALUED  (high recruit prestige, low NFL output)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6032" y="2852928"/>
            <a:ext cx="16916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" y="2898648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47672" y="2852928"/>
            <a:ext cx="868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20824" y="28986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 Rtg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16352" y="2852928"/>
            <a:ext cx="868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89504" y="28986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NFL Score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85032" y="2852928"/>
            <a:ext cx="6858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58184" y="289864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200400"/>
            <a:ext cx="169164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" y="324612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Rosen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47672" y="3200400"/>
            <a:ext cx="86868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20824" y="32461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16352" y="3200400"/>
            <a:ext cx="86868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89504" y="32461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85032" y="3200400"/>
            <a:ext cx="68580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58184" y="3246120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+69.9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3547872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9184" y="359359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D.Thompson-Robinson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47672" y="3547872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020824" y="359359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16352" y="3547872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89504" y="359359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85032" y="3547872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58184" y="359359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+68.7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" y="3895344"/>
            <a:ext cx="169164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9184" y="394106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Richardson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947672" y="3895344"/>
            <a:ext cx="86868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020824" y="394106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816352" y="3895344"/>
            <a:ext cx="86868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889504" y="394106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85032" y="3895344"/>
            <a:ext cx="68580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758184" y="394106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+67.9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" y="4242816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9184" y="428853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J.J. McCarthy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947672" y="4242816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020824" y="42885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816352" y="4242816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889504" y="42885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85032" y="4242816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758184" y="4288536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+63.1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6032" y="4590288"/>
            <a:ext cx="169164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9184" y="4636008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Dwayne Haskins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947672" y="4590288"/>
            <a:ext cx="86868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020824" y="463600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816352" y="4590288"/>
            <a:ext cx="86868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889504" y="463600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685032" y="4590288"/>
            <a:ext cx="68580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758184" y="463600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+52.8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572000" y="2578608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UNDERVALUED  (lower prestige, high NFL output)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0" y="2852928"/>
            <a:ext cx="16916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645152" y="2898648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QB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63640" y="2852928"/>
            <a:ext cx="86868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336792" y="28986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 Rtg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132320" y="2852928"/>
            <a:ext cx="86868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205472" y="28986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NFL Score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001000" y="2852928"/>
            <a:ext cx="6858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074152" y="289864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0" y="3200400"/>
            <a:ext cx="1691640" cy="347472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645152" y="324612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Brock Purdy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263640" y="3200400"/>
            <a:ext cx="868680" cy="347472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336792" y="32461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132320" y="3200400"/>
            <a:ext cx="868680" cy="347472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205472" y="32461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001000" y="3200400"/>
            <a:ext cx="685800" cy="347472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074152" y="3246120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−2.0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572000" y="3547872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645152" y="359359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Burrow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263640" y="3547872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336792" y="359359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32320" y="3547872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7205472" y="359359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001000" y="3547872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074152" y="359359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+5.9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572000" y="3895344"/>
            <a:ext cx="1691640" cy="347472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645152" y="394106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Herbert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263640" y="3895344"/>
            <a:ext cx="868680" cy="347472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336792" y="394106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132320" y="3895344"/>
            <a:ext cx="868680" cy="347472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7205472" y="394106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8001000" y="3895344"/>
            <a:ext cx="685800" cy="347472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8074152" y="394106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+5.9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4572000" y="4242816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645152" y="428853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Lamar Jackson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6263640" y="4242816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336792" y="42885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7132320" y="4242816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205472" y="42885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8001000" y="4242816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8074152" y="4288536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+9.0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4572000" y="4590288"/>
            <a:ext cx="1691640" cy="347472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4645152" y="4636008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Drake Maye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263640" y="4590288"/>
            <a:ext cx="868680" cy="347472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6336792" y="463600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7132320" y="4590288"/>
            <a:ext cx="868680" cy="347472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7205472" y="463600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8001000" y="4590288"/>
            <a:ext cx="685800" cy="347472"/>
          </a:xfrm>
          <a:prstGeom prst="rect">
            <a:avLst/>
          </a:prstGeom>
          <a:solidFill>
            <a:srgbClr val="E8F4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8074152" y="463600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37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DEAF23"/>
                </a:solidFill>
                <a:latin typeface="Calibri"/>
                <a:ea typeface="Calibri"/>
                <a:cs typeface="Calibri"/>
              </a:rPr>
              <a:t>RESULTS</a:t>
            </a:r>
            <a:endParaRPr lang="en-US" sz="1000">
              <a:solidFill>
                <a:srgbClr val="DEAF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7132B"/>
                </a:solidFill>
                <a:latin typeface="Georgia"/>
              </a:rPr>
              <a:t>QB Archetypes: PCA + K-Means (k=4)</a:t>
            </a:r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3 components explain 78.7% of variance  ·  PC1 (50%) = passing efficiency  ·  PC2 (18%) = volume/usage  ·  PC3 (11%) = mobility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691640"/>
            <a:ext cx="41879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691640"/>
            <a:ext cx="4187952" cy="822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773936"/>
            <a:ext cx="4187952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77393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 Passers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47872" y="17739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n=5  avg 63.5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Cmp% 71.6%  ·  PPA 0.616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478024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Kyler Murray, Tua Tagovailoa, Mac Jones, Jalen Hurts, Dwayne Haskins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78892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Highest-floor college profiles. Haskins (42.8) shows efficiency ≠ guaranteed NFL success.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0016" y="1691640"/>
            <a:ext cx="41879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0016" y="1691640"/>
            <a:ext cx="4187952" cy="82296"/>
          </a:xfrm>
          <a:prstGeom prst="rect">
            <a:avLst/>
          </a:prstGeom>
          <a:solidFill>
            <a:srgbClr val="0F7EA6"/>
          </a:solidFill>
          <a:ln w="12700">
            <a:solidFill>
              <a:srgbClr val="0F7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0016" y="1773936"/>
            <a:ext cx="4187952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9744" y="177393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Elite Multi-Dimensional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91856" y="17739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7E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n=10  avg 61.9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9744" y="221284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Cmp% 69.5%  ·  Recruit Rtg avg 98.1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9744" y="2478024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Burrow, Stroud, Daniels, Williams, Lawrence, Nix, Bryce Young, Fields, Mayfield, McCarthy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9744" y="278892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upside but widest bust risk. Young (49.5) &amp; McCarthy (35.6) drag average down.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3410712"/>
            <a:ext cx="41879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3410712"/>
            <a:ext cx="4187952" cy="82296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3493008"/>
            <a:ext cx="4187952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49300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Dual-Threats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47872" y="34930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9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n=7  avg 55.2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Y/A 3.73  ·  Cmp% 61.0%  ·  Highest INT 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197096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Lamar Jackson, Josh Allen, Anthony Richardson, Sam Howell, Daniel Jones, Will Levis, Spencer Rattler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507992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volatile cluster: two generational talents (Jackson 79.2, Rattler 63.8) alongside Richardson (24.1).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0016" y="3410712"/>
            <a:ext cx="41879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0016" y="3410712"/>
            <a:ext cx="4187952" cy="822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0016" y="3493008"/>
            <a:ext cx="4187952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9744" y="349300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 Pocket Passers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991856" y="34930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n=18  avg 54.9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9744" y="393192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Y/A 1.84  ·  Largest cluster (45% of cohort)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9744" y="4197096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Herbert, Purdy, Drake Maye, Minshew, Pickett, Darnold, Wilson, Rosen + 10 more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9744" y="4507992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outcome range (score 20–88). Cluster label alone is not predictive.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37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</a:rPr>
              <a:t>Recommendations &amp; Limitations</a:t>
            </a:r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4114800" cy="36576"/>
          </a:xfrm>
          <a:prstGeom prst="rect">
            <a:avLst/>
          </a:prstGeom>
          <a:solidFill>
            <a:srgbClr val="DEAF23"/>
          </a:solidFill>
          <a:ln w="12700">
            <a:solidFill>
              <a:srgbClr val="DEAF23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>
              <a:solidFill>
                <a:srgbClr val="DEAF23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256032" y="13898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EAF23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For NFL Front Offices</a:t>
            </a:r>
            <a:endParaRPr lang="en-US" sz="1600">
              <a:solidFill>
                <a:srgbClr val="DEAF23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6032" y="1759227"/>
            <a:ext cx="4114800" cy="1918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over-indexing on recruiting rankings — r = −0.10 is statistically indistinguishable from zero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college completion % and PPA — directionally consistent signals (r = +0.33 / +0.18)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40 Round 1 QBs scored below 45 (Rosen, Wilson, Richardson, McCarthy, Haskins) — draft round ≠ outcome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rounds can produce elite performers: Purdy (Rd 7, 87.9) and Minshew (Rd 6, 67.3) outperformed most Rd 1 picks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0016" y="1298448"/>
            <a:ext cx="4187952" cy="36576"/>
          </a:xfrm>
          <a:prstGeom prst="rect">
            <a:avLst/>
          </a:prstGeom>
          <a:solidFill>
            <a:srgbClr val="DEAF23"/>
          </a:solidFill>
          <a:ln w="12700">
            <a:solidFill>
              <a:srgbClr val="DEAF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0016" y="1389888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EAF23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600">
              <a:solidFill>
                <a:srgbClr val="DEAF23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00016" y="1769166"/>
            <a:ext cx="4187952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n=40, draft years 2018–2024 only (advanced stats era)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outcomes limited to first two seasons — careers evolve significantly after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ratings missing for 6 QBs (small-school players not tracked by 247Sports)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stats reflect team context — SOS controls limited by free API tier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78024" y="3945636"/>
            <a:ext cx="4187952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2D54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39456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College efficiency (completion %, PPA) should be weighted significantly more than recruiting prestige in NFL draft evaluation models.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B1231D-0B3D-9D48-AFF9-704C88E4306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bb58ad1-8df2-47f4-84dc-bca9b40ae7e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3739</TotalTime>
  <Words>1532</Words>
  <Application>Microsoft Macintosh PowerPoint</Application>
  <PresentationFormat>On-screen Show (16:9)</PresentationFormat>
  <Paragraphs>307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 Translation: Which College Traits Predict Early NFL Success?</dc:title>
  <dc:subject>PptxGenJS Presentation</dc:subject>
  <dc:creator>PptxGenJS</dc:creator>
  <cp:lastModifiedBy>Brayden Cherry</cp:lastModifiedBy>
  <cp:revision>4</cp:revision>
  <dcterms:created xsi:type="dcterms:W3CDTF">2026-04-12T05:53:09Z</dcterms:created>
  <dcterms:modified xsi:type="dcterms:W3CDTF">2026-04-15T16:13:48Z</dcterms:modified>
</cp:coreProperties>
</file>